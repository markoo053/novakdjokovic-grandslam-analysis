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1" r:id="rId25"/>
    <p:sldId id="282" r:id="rId26"/>
    <p:sldId id="283" r:id="rId27"/>
    <p:sldId id="286" r:id="rId28"/>
    <p:sldId id="284" r:id="rId29"/>
    <p:sldId id="285" r:id="rId30"/>
    <p:sldId id="287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281"/>
    <a:srgbClr val="0F20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1" autoAdjust="0"/>
    <p:restoredTop sz="94660"/>
  </p:normalViewPr>
  <p:slideViewPr>
    <p:cSldViewPr snapToGrid="0">
      <p:cViewPr>
        <p:scale>
          <a:sx n="121" d="100"/>
          <a:sy n="121" d="100"/>
        </p:scale>
        <p:origin x="-6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4943" y="1057048"/>
            <a:ext cx="7446285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943" y="3536723"/>
            <a:ext cx="7446285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79ED-3FA7-4EF8-964B-EB8BCFAB02F8}" type="datetimeFigureOut">
              <a:rPr lang="en-US" smtClean="0"/>
              <a:t>7/5/2023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79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79ED-3FA7-4EF8-964B-EB8BCFAB02F8}" type="datetimeFigureOut">
              <a:rPr lang="en-US" smtClean="0"/>
              <a:t>7/5/2023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256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943" y="1683613"/>
            <a:ext cx="8251553" cy="285273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4943" y="4563338"/>
            <a:ext cx="8251553" cy="118906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79ED-3FA7-4EF8-964B-EB8BCFAB02F8}" type="datetimeFigureOut">
              <a:rPr lang="en-US" smtClean="0"/>
              <a:t>7/5/2023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346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4943" y="1873975"/>
            <a:ext cx="4206240" cy="392830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0926" y="1873975"/>
            <a:ext cx="4297680" cy="392830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79ED-3FA7-4EF8-964B-EB8BCFAB02F8}" type="datetimeFigureOut">
              <a:rPr lang="en-US" smtClean="0"/>
              <a:t>7/5/2023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249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943" y="299811"/>
            <a:ext cx="8623663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4940" y="1615849"/>
            <a:ext cx="43891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4941" y="2439761"/>
            <a:ext cx="4389120" cy="33292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1629" y="1615849"/>
            <a:ext cx="411697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11629" y="2439761"/>
            <a:ext cx="4116977" cy="33292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79ED-3FA7-4EF8-964B-EB8BCFAB02F8}" type="datetimeFigureOut">
              <a:rPr lang="en-US" smtClean="0"/>
              <a:t>7/5/2023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711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79ED-3FA7-4EF8-964B-EB8BCFAB02F8}" type="datetimeFigureOut">
              <a:rPr lang="en-US" smtClean="0"/>
              <a:t>7/5/2023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736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79ED-3FA7-4EF8-964B-EB8BCFAB02F8}" type="datetimeFigureOut">
              <a:rPr lang="en-US" smtClean="0"/>
              <a:t>7/5/2023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554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943" y="465138"/>
            <a:ext cx="3099980" cy="160020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594" y="465138"/>
            <a:ext cx="5371011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4943" y="2065338"/>
            <a:ext cx="309998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79ED-3FA7-4EF8-964B-EB8BCFAB02F8}" type="datetimeFigureOut">
              <a:rPr lang="en-US" smtClean="0"/>
              <a:t>7/5/2023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626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944" y="483326"/>
            <a:ext cx="2677886" cy="160020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218899" y="483326"/>
            <a:ext cx="5809707" cy="52580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4944" y="2083526"/>
            <a:ext cx="2677886" cy="3657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79ED-3FA7-4EF8-964B-EB8BCFAB02F8}" type="datetimeFigureOut">
              <a:rPr lang="en-US" smtClean="0"/>
              <a:t>7/5/2023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054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4943" y="417376"/>
            <a:ext cx="1138250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4943" y="1841862"/>
            <a:ext cx="8623663" cy="3888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4943" y="6356349"/>
            <a:ext cx="21836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276D79ED-3FA7-4EF8-964B-EB8BCFAB02F8}" type="datetimeFigureOut">
              <a:rPr lang="en-US" smtClean="0"/>
              <a:pPr/>
              <a:t>7/5/2023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18899" y="6356349"/>
            <a:ext cx="32755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4693" y="6356350"/>
            <a:ext cx="1903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610475" y="4914981"/>
            <a:ext cx="896556" cy="324395"/>
          </a:xfrm>
          <a:prstGeom prst="rect">
            <a:avLst/>
          </a:prstGeom>
        </p:spPr>
      </p:pic>
      <p:sp>
        <p:nvSpPr>
          <p:cNvPr id="12" name="TextBox 11"/>
          <p:cNvSpPr txBox="1"/>
          <p:nvPr userDrawn="1"/>
        </p:nvSpPr>
        <p:spPr>
          <a:xfrm rot="16200000">
            <a:off x="-2113768" y="2546065"/>
            <a:ext cx="388867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bs-Latn-BA" sz="1200" dirty="0">
                <a:solidFill>
                  <a:schemeClr val="bg1">
                    <a:lumMod val="65000"/>
                  </a:schemeClr>
                </a:solidFill>
              </a:rPr>
              <a:t>Find</a:t>
            </a:r>
            <a:r>
              <a:rPr lang="bs-Latn-BA" sz="1200" baseline="0" dirty="0">
                <a:solidFill>
                  <a:schemeClr val="bg1">
                    <a:lumMod val="65000"/>
                  </a:schemeClr>
                </a:solidFill>
              </a:rPr>
              <a:t> m</a:t>
            </a:r>
            <a:r>
              <a:rPr lang="bs-Latn-BA" sz="1200" dirty="0">
                <a:solidFill>
                  <a:schemeClr val="bg1">
                    <a:lumMod val="65000"/>
                  </a:schemeClr>
                </a:solidFill>
              </a:rPr>
              <a:t>ore PowerPoint templates</a:t>
            </a:r>
            <a:r>
              <a:rPr lang="bs-Latn-BA" sz="1200" baseline="0" dirty="0">
                <a:solidFill>
                  <a:schemeClr val="bg1">
                    <a:lumMod val="65000"/>
                  </a:schemeClr>
                </a:solidFill>
              </a:rPr>
              <a:t> on </a:t>
            </a:r>
            <a:r>
              <a:rPr lang="bs-Latn-BA" sz="1200" b="1" baseline="0" dirty="0">
                <a:solidFill>
                  <a:schemeClr val="bg1">
                    <a:lumMod val="65000"/>
                  </a:schemeClr>
                </a:solidFill>
              </a:rPr>
              <a:t>prezentr.com</a:t>
            </a:r>
            <a:r>
              <a:rPr lang="bs-Latn-BA" sz="1200" baseline="0" dirty="0">
                <a:solidFill>
                  <a:schemeClr val="bg1">
                    <a:lumMod val="65000"/>
                  </a:schemeClr>
                </a:solidFill>
              </a:rPr>
              <a:t>!</a:t>
            </a:r>
            <a:endParaRPr 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734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428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Novak </a:t>
            </a:r>
            <a:r>
              <a:rPr lang="en-US" dirty="0" err="1" smtClean="0"/>
              <a:t>Djoković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Grand Slam</a:t>
            </a:r>
            <a:br>
              <a:rPr lang="en-US" dirty="0" smtClean="0"/>
            </a:br>
            <a:r>
              <a:rPr lang="en-US" dirty="0" smtClean="0"/>
              <a:t>Analysis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942" y="3946628"/>
            <a:ext cx="7446285" cy="1655762"/>
          </a:xfrm>
        </p:spPr>
        <p:txBody>
          <a:bodyPr/>
          <a:lstStyle/>
          <a:p>
            <a:r>
              <a:rPr lang="en-US" dirty="0" smtClean="0"/>
              <a:t>Marko </a:t>
            </a:r>
            <a:r>
              <a:rPr lang="en-US" dirty="0" err="1" smtClean="0"/>
              <a:t>Stjepanović</a:t>
            </a:r>
            <a:r>
              <a:rPr lang="en-US" dirty="0" smtClean="0"/>
              <a:t> IN59-2020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928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943" y="0"/>
            <a:ext cx="11382504" cy="1325563"/>
          </a:xfrm>
        </p:spPr>
        <p:txBody>
          <a:bodyPr/>
          <a:lstStyle/>
          <a:p>
            <a:r>
              <a:rPr lang="en-US" dirty="0" err="1" smtClean="0"/>
              <a:t>Motivacija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943" y="1577401"/>
            <a:ext cx="8623663" cy="3888671"/>
          </a:xfrm>
        </p:spPr>
        <p:txBody>
          <a:bodyPr/>
          <a:lstStyle/>
          <a:p>
            <a:r>
              <a:rPr lang="en-US" dirty="0" err="1" smtClean="0"/>
              <a:t>Pratim</a:t>
            </a:r>
            <a:r>
              <a:rPr lang="en-US" dirty="0" smtClean="0"/>
              <a:t> sport, </a:t>
            </a:r>
            <a:r>
              <a:rPr lang="en-US" dirty="0" err="1" smtClean="0"/>
              <a:t>fudbal</a:t>
            </a:r>
            <a:r>
              <a:rPr lang="en-US" dirty="0" smtClean="0"/>
              <a:t>, </a:t>
            </a:r>
            <a:r>
              <a:rPr lang="en-US" dirty="0" err="1" smtClean="0"/>
              <a:t>tenis</a:t>
            </a:r>
            <a:r>
              <a:rPr lang="en-US" dirty="0" smtClean="0"/>
              <a:t>, </a:t>
            </a:r>
            <a:r>
              <a:rPr lang="en-US" dirty="0" err="1" smtClean="0"/>
              <a:t>košarku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redovno</a:t>
            </a:r>
            <a:r>
              <a:rPr lang="en-US" dirty="0" smtClean="0"/>
              <a:t> </a:t>
            </a:r>
            <a:r>
              <a:rPr lang="en-US" dirty="0" err="1" smtClean="0"/>
              <a:t>pratim</a:t>
            </a:r>
            <a:r>
              <a:rPr lang="en-US" dirty="0" smtClean="0"/>
              <a:t> </a:t>
            </a:r>
            <a:r>
              <a:rPr lang="en-US" dirty="0" err="1" smtClean="0"/>
              <a:t>mečeve</a:t>
            </a:r>
            <a:r>
              <a:rPr lang="en-US" dirty="0" smtClean="0"/>
              <a:t> </a:t>
            </a:r>
            <a:r>
              <a:rPr lang="en-US" dirty="0" err="1" smtClean="0"/>
              <a:t>Djokovića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Na </a:t>
            </a:r>
            <a:r>
              <a:rPr lang="en-US" dirty="0" err="1" smtClean="0"/>
              <a:t>internetu</a:t>
            </a:r>
            <a:r>
              <a:rPr lang="en-US" dirty="0" smtClean="0"/>
              <a:t> </a:t>
            </a:r>
            <a:r>
              <a:rPr lang="en-US" dirty="0" err="1" smtClean="0"/>
              <a:t>trenutno</a:t>
            </a:r>
            <a:r>
              <a:rPr lang="en-US" dirty="0" smtClean="0"/>
              <a:t> ne </a:t>
            </a:r>
            <a:r>
              <a:rPr lang="en-US" dirty="0" err="1" smtClean="0"/>
              <a:t>postoji</a:t>
            </a:r>
            <a:r>
              <a:rPr lang="en-US" dirty="0" smtClean="0"/>
              <a:t> </a:t>
            </a:r>
            <a:r>
              <a:rPr lang="en-US" dirty="0" err="1" smtClean="0"/>
              <a:t>ni</a:t>
            </a:r>
            <a:r>
              <a:rPr lang="en-US" dirty="0" smtClean="0"/>
              <a:t> </a:t>
            </a:r>
            <a:r>
              <a:rPr lang="en-US" dirty="0" err="1" smtClean="0"/>
              <a:t>jedna</a:t>
            </a:r>
            <a:r>
              <a:rPr lang="en-US" dirty="0" smtClean="0"/>
              <a:t> </a:t>
            </a:r>
            <a:r>
              <a:rPr lang="en-US" dirty="0" err="1" smtClean="0"/>
              <a:t>analiza</a:t>
            </a:r>
            <a:r>
              <a:rPr lang="en-US" dirty="0" smtClean="0"/>
              <a:t> </a:t>
            </a:r>
            <a:r>
              <a:rPr lang="en-US" dirty="0" err="1" smtClean="0"/>
              <a:t>mečeva</a:t>
            </a:r>
            <a:r>
              <a:rPr lang="en-US" dirty="0" smtClean="0"/>
              <a:t> </a:t>
            </a:r>
            <a:r>
              <a:rPr lang="en-US" dirty="0" err="1" smtClean="0"/>
              <a:t>Djokovića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Jako</a:t>
            </a:r>
            <a:r>
              <a:rPr lang="en-US" dirty="0" smtClean="0"/>
              <a:t> </a:t>
            </a:r>
            <a:r>
              <a:rPr lang="en-US" dirty="0" err="1" smtClean="0"/>
              <a:t>malo</a:t>
            </a:r>
            <a:r>
              <a:rPr lang="en-US" dirty="0" smtClean="0"/>
              <a:t> </a:t>
            </a:r>
            <a:r>
              <a:rPr lang="en-US" dirty="0" err="1" smtClean="0"/>
              <a:t>analiza</a:t>
            </a:r>
            <a:r>
              <a:rPr lang="en-US" dirty="0" smtClean="0"/>
              <a:t> </a:t>
            </a:r>
            <a:r>
              <a:rPr lang="en-US" dirty="0" err="1" smtClean="0"/>
              <a:t>vezanih</a:t>
            </a:r>
            <a:r>
              <a:rPr lang="en-US" dirty="0" smtClean="0"/>
              <a:t> </a:t>
            </a:r>
            <a:r>
              <a:rPr lang="en-US" dirty="0" err="1" smtClean="0"/>
              <a:t>za</a:t>
            </a:r>
            <a:r>
              <a:rPr lang="en-US" dirty="0" smtClean="0"/>
              <a:t> </a:t>
            </a:r>
            <a:r>
              <a:rPr lang="en-US" dirty="0" err="1" smtClean="0"/>
              <a:t>tenis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971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467" y="-95003"/>
            <a:ext cx="11382504" cy="1325563"/>
          </a:xfrm>
        </p:spPr>
        <p:txBody>
          <a:bodyPr/>
          <a:lstStyle/>
          <a:p>
            <a:r>
              <a:rPr lang="en-US" dirty="0" err="1" smtClean="0"/>
              <a:t>Podaci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6174" y="1390730"/>
            <a:ext cx="3708641" cy="4013855"/>
          </a:xfrm>
          <a:prstGeom prst="rect">
            <a:avLst/>
          </a:prstGeom>
        </p:spPr>
      </p:pic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338" y="1424540"/>
            <a:ext cx="4060682" cy="3980045"/>
          </a:xfrm>
        </p:spPr>
      </p:pic>
    </p:spTree>
    <p:extLst>
      <p:ext uri="{BB962C8B-B14F-4D97-AF65-F5344CB8AC3E}">
        <p14:creationId xmlns:p14="http://schemas.microsoft.com/office/powerpoint/2010/main" val="318735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646" y="0"/>
            <a:ext cx="11382504" cy="1325563"/>
          </a:xfrm>
        </p:spPr>
        <p:txBody>
          <a:bodyPr/>
          <a:lstStyle/>
          <a:p>
            <a:r>
              <a:rPr lang="en-US" dirty="0" err="1" smtClean="0"/>
              <a:t>Sadržaj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99536" y="1629027"/>
            <a:ext cx="8623663" cy="3888671"/>
          </a:xfrm>
        </p:spPr>
        <p:txBody>
          <a:bodyPr/>
          <a:lstStyle/>
          <a:p>
            <a:r>
              <a:rPr lang="en-US" dirty="0" err="1" smtClean="0"/>
              <a:t>Deskriptivna</a:t>
            </a:r>
            <a:r>
              <a:rPr lang="en-US" dirty="0" smtClean="0"/>
              <a:t> </a:t>
            </a:r>
            <a:r>
              <a:rPr lang="en-US" dirty="0" err="1" smtClean="0"/>
              <a:t>statistika</a:t>
            </a:r>
            <a:endParaRPr lang="en-US" dirty="0" smtClean="0"/>
          </a:p>
          <a:p>
            <a:endParaRPr lang="en-US" dirty="0"/>
          </a:p>
          <a:p>
            <a:r>
              <a:rPr lang="en-US" dirty="0" err="1" smtClean="0"/>
              <a:t>Analize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poredjenja</a:t>
            </a:r>
            <a:endParaRPr lang="en-US" dirty="0" smtClean="0"/>
          </a:p>
          <a:p>
            <a:endParaRPr lang="en-US" dirty="0"/>
          </a:p>
          <a:p>
            <a:r>
              <a:rPr lang="en-US" dirty="0" err="1" smtClean="0"/>
              <a:t>Poredjenje</a:t>
            </a:r>
            <a:r>
              <a:rPr lang="en-US" dirty="0" smtClean="0"/>
              <a:t> </a:t>
            </a:r>
            <a:r>
              <a:rPr lang="en-US" dirty="0" err="1" smtClean="0"/>
              <a:t>sa</a:t>
            </a:r>
            <a:r>
              <a:rPr lang="en-US" dirty="0" smtClean="0"/>
              <a:t> </a:t>
            </a:r>
            <a:r>
              <a:rPr lang="en-US" dirty="0" err="1" smtClean="0"/>
              <a:t>najvećim</a:t>
            </a:r>
            <a:r>
              <a:rPr lang="en-US" dirty="0" smtClean="0"/>
              <a:t> </a:t>
            </a:r>
            <a:r>
              <a:rPr lang="en-US" dirty="0" err="1" smtClean="0"/>
              <a:t>rivalima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576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2656" y="2443246"/>
            <a:ext cx="11382504" cy="132556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66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Deskriptivna</a:t>
            </a:r>
            <a:r>
              <a:rPr lang="en-US" sz="66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66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statistika</a:t>
            </a:r>
            <a:endParaRPr lang="en-US" sz="6600" b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6410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67" b="3272"/>
          <a:stretch/>
        </p:blipFill>
        <p:spPr>
          <a:xfrm>
            <a:off x="3024690" y="1781504"/>
            <a:ext cx="6394094" cy="392561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Title 3"/>
          <p:cNvSpPr>
            <a:spLocks noGrp="1"/>
          </p:cNvSpPr>
          <p:nvPr>
            <p:ph type="title"/>
          </p:nvPr>
        </p:nvSpPr>
        <p:spPr>
          <a:xfrm>
            <a:off x="606972" y="128884"/>
            <a:ext cx="11382504" cy="132556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Omjer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dobijenih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izgubljenih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mečeva</a:t>
            </a:r>
            <a:endParaRPr lang="en-US" sz="4800" b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71216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19"/>
          <a:stretch/>
        </p:blipFill>
        <p:spPr>
          <a:xfrm>
            <a:off x="2668829" y="1726324"/>
            <a:ext cx="7258790" cy="40782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606972" y="128884"/>
            <a:ext cx="11382504" cy="132556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Australian Open</a:t>
            </a:r>
            <a:endParaRPr lang="en-US" sz="4800" b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26848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65"/>
          <a:stretch/>
        </p:blipFill>
        <p:spPr>
          <a:xfrm>
            <a:off x="2467556" y="1734205"/>
            <a:ext cx="7661336" cy="407695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606972" y="128884"/>
            <a:ext cx="11382504" cy="132556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Roland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Garros</a:t>
            </a:r>
            <a:endParaRPr lang="en-US" sz="4800" b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53619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50"/>
          <a:stretch/>
        </p:blipFill>
        <p:spPr>
          <a:xfrm>
            <a:off x="2529950" y="1820917"/>
            <a:ext cx="7662672" cy="43493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0034" y="128884"/>
            <a:ext cx="11382504" cy="132556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Wimbledon</a:t>
            </a:r>
            <a:endParaRPr lang="en-US" sz="4800" b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48724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0034" y="128884"/>
            <a:ext cx="11382504" cy="132556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 Open</a:t>
            </a:r>
            <a:endParaRPr lang="en-US" sz="4800" b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66"/>
          <a:stretch/>
        </p:blipFill>
        <p:spPr>
          <a:xfrm>
            <a:off x="2529950" y="1726325"/>
            <a:ext cx="7662672" cy="434125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99933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0034" y="128884"/>
            <a:ext cx="11382504" cy="132556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Efikasnost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podlogama</a:t>
            </a:r>
            <a:endParaRPr lang="en-US" sz="4800" b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09" r="517"/>
          <a:stretch/>
        </p:blipFill>
        <p:spPr>
          <a:xfrm>
            <a:off x="2549764" y="1907628"/>
            <a:ext cx="7623043" cy="40676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54765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33096" y="231360"/>
            <a:ext cx="11382504" cy="132556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Prosječna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dužina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mečeva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(min)</a:t>
            </a:r>
            <a:endParaRPr lang="en-US" sz="4800" b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43"/>
          <a:stretch/>
        </p:blipFill>
        <p:spPr>
          <a:xfrm>
            <a:off x="2593012" y="2120463"/>
            <a:ext cx="7662672" cy="38553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02421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0033" y="215594"/>
            <a:ext cx="11382504" cy="132556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Broj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asova</a:t>
            </a:r>
            <a:endParaRPr lang="en-US" sz="4800" b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34" r="728"/>
          <a:stretch/>
        </p:blipFill>
        <p:spPr>
          <a:xfrm>
            <a:off x="2529949" y="2010105"/>
            <a:ext cx="7662672" cy="352657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14373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33096" y="231360"/>
            <a:ext cx="11382504" cy="132556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Broj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duplih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servis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grešaka</a:t>
            </a:r>
            <a:endParaRPr lang="en-US" sz="4800" b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1" r="414"/>
          <a:stretch/>
        </p:blipFill>
        <p:spPr>
          <a:xfrm>
            <a:off x="2608885" y="2065283"/>
            <a:ext cx="7630926" cy="35007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36664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88730" y="215595"/>
            <a:ext cx="11382504" cy="132556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Protivnici</a:t>
            </a:r>
            <a:r>
              <a:rPr lang="en-US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koje</a:t>
            </a:r>
            <a:r>
              <a:rPr lang="en-US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je </a:t>
            </a:r>
            <a:r>
              <a:rPr lang="en-US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najviše</a:t>
            </a:r>
            <a:r>
              <a:rPr lang="en-US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puta </a:t>
            </a:r>
            <a:r>
              <a:rPr lang="en-US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pobjedjivao</a:t>
            </a:r>
            <a:endParaRPr lang="en-US" b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81" r="311"/>
          <a:stretch/>
        </p:blipFill>
        <p:spPr>
          <a:xfrm>
            <a:off x="2360577" y="1962804"/>
            <a:ext cx="7638809" cy="386886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37137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462656" y="2443246"/>
            <a:ext cx="11382504" cy="132556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66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Analize</a:t>
            </a:r>
            <a:r>
              <a:rPr lang="en-US" sz="66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66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r>
              <a:rPr lang="en-US" sz="66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66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poredjenja</a:t>
            </a:r>
            <a:endParaRPr lang="en-US" sz="6600" b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72031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0310" y="396898"/>
            <a:ext cx="11382504" cy="132556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Odnos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procenata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asova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duplih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servis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grešaka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- AO</a:t>
            </a:r>
            <a:endParaRPr lang="en-US" sz="4800" b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19" r="589"/>
          <a:stretch/>
        </p:blipFill>
        <p:spPr>
          <a:xfrm>
            <a:off x="2480226" y="2420007"/>
            <a:ext cx="7617588" cy="390655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30194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0310" y="396898"/>
            <a:ext cx="11382504" cy="132556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Odnos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procenata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asova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duplih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servis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grešaka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- RG</a:t>
            </a:r>
            <a:endParaRPr lang="en-US" sz="4800" b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50" r="486"/>
          <a:stretch/>
        </p:blipFill>
        <p:spPr>
          <a:xfrm>
            <a:off x="2498826" y="2286000"/>
            <a:ext cx="7625471" cy="393418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66090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0310" y="396898"/>
            <a:ext cx="11382504" cy="132556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Odnos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procenata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asova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duplih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servis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grešaka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- Wimbledon</a:t>
            </a:r>
            <a:endParaRPr lang="en-US" sz="4800" b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64" r="589"/>
          <a:stretch/>
        </p:blipFill>
        <p:spPr>
          <a:xfrm>
            <a:off x="2502768" y="2270234"/>
            <a:ext cx="7617588" cy="38745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48530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0310" y="396898"/>
            <a:ext cx="11382504" cy="132556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Odnos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procenata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asova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duplih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servis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grešaka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– US Open</a:t>
            </a:r>
            <a:endParaRPr lang="en-US" sz="4800" b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01" r="383"/>
          <a:stretch/>
        </p:blipFill>
        <p:spPr>
          <a:xfrm>
            <a:off x="2494885" y="2301766"/>
            <a:ext cx="7633353" cy="388608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10945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0310" y="396898"/>
            <a:ext cx="11382504" cy="132556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Odnos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procenata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ubačenog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prvog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servisa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osvajanja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poena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osnovu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prvog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servisa</a:t>
            </a:r>
            <a:endParaRPr lang="en-US" sz="4800" b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62" r="589"/>
          <a:stretch/>
        </p:blipFill>
        <p:spPr>
          <a:xfrm>
            <a:off x="2502768" y="2349063"/>
            <a:ext cx="7617588" cy="38241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74191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0310" y="396898"/>
            <a:ext cx="11382504" cy="132556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Odnos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procenata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osvojenih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poena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drugom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servisu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osvojenih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servis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gemova</a:t>
            </a:r>
            <a:endParaRPr lang="en-US" sz="4800" b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93" r="383"/>
          <a:stretch/>
        </p:blipFill>
        <p:spPr>
          <a:xfrm>
            <a:off x="2494885" y="2246585"/>
            <a:ext cx="7633353" cy="3834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290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5650" y="396898"/>
            <a:ext cx="11382504" cy="132556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Odnos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součenih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spašenih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brejk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lopti</a:t>
            </a:r>
            <a:endParaRPr lang="en-US" sz="4800" b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"/>
          <a:stretch/>
        </p:blipFill>
        <p:spPr>
          <a:xfrm>
            <a:off x="2465566" y="2112580"/>
            <a:ext cx="7662672" cy="418852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078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580897" y="2459012"/>
            <a:ext cx="11382504" cy="132556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US" sz="66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Poredjenje</a:t>
            </a:r>
            <a:r>
              <a:rPr lang="en-US" sz="66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66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</a:t>
            </a:r>
            <a:r>
              <a:rPr lang="en-US" sz="66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66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Federerom</a:t>
            </a:r>
            <a:r>
              <a:rPr lang="en-US" sz="66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66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r>
              <a:rPr lang="en-US" sz="66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66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Nadalom</a:t>
            </a:r>
            <a:endParaRPr lang="en-US" sz="6600" b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04025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5650" y="396898"/>
            <a:ext cx="11382504" cy="132556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Broj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asova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–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Djoković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vs Federer</a:t>
            </a:r>
            <a:endParaRPr lang="en-US" sz="4800" b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58" r="656"/>
          <a:stretch/>
        </p:blipFill>
        <p:spPr>
          <a:xfrm>
            <a:off x="2923036" y="2144109"/>
            <a:ext cx="6747732" cy="330920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77059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5650" y="396898"/>
            <a:ext cx="11382504" cy="132556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Broj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duplih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servis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grešaka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–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Djoković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vs Federer</a:t>
            </a:r>
            <a:endParaRPr lang="en-US" sz="4800" b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59" r="192"/>
          <a:stretch/>
        </p:blipFill>
        <p:spPr>
          <a:xfrm>
            <a:off x="2472895" y="2246586"/>
            <a:ext cx="7648013" cy="385139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60196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5650" y="396898"/>
            <a:ext cx="11382504" cy="132556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Spašene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brejk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lopte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–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Djoković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vs Federer</a:t>
            </a:r>
            <a:endParaRPr lang="en-US" sz="4800" b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6168" r="397"/>
          <a:stretch/>
        </p:blipFill>
        <p:spPr>
          <a:xfrm>
            <a:off x="2480778" y="2120462"/>
            <a:ext cx="7632248" cy="386376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90509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5650" y="396898"/>
            <a:ext cx="11382504" cy="132556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Broj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asova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–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Djoković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vs Nadal</a:t>
            </a:r>
            <a:endParaRPr lang="en-US" sz="4800" b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00" r="611"/>
          <a:stretch/>
        </p:blipFill>
        <p:spPr>
          <a:xfrm>
            <a:off x="2465566" y="2270233"/>
            <a:ext cx="7662672" cy="386381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34317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5650" y="396898"/>
            <a:ext cx="11382504" cy="132556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Broj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duplih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servis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grešaka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–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Djoković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vs Nadal</a:t>
            </a:r>
            <a:endParaRPr lang="en-US" sz="4800" b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35"/>
          <a:stretch/>
        </p:blipFill>
        <p:spPr>
          <a:xfrm>
            <a:off x="2465566" y="2222937"/>
            <a:ext cx="7662672" cy="38353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83411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5650" y="396898"/>
            <a:ext cx="11382504" cy="132556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Spašene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brejk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lopte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– </a:t>
            </a:r>
            <a:r>
              <a:rPr lang="en-US" sz="4800" b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Djoković</a:t>
            </a:r>
            <a:r>
              <a:rPr lang="en-US" sz="4800" b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vs Nadal</a:t>
            </a:r>
            <a:endParaRPr lang="en-US" sz="4800" b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15" r="499"/>
          <a:stretch/>
        </p:blipFill>
        <p:spPr>
          <a:xfrm>
            <a:off x="2484719" y="2191407"/>
            <a:ext cx="7624365" cy="379649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23198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oger Federer PowerPoint Template" id="{165024C7-148C-BD4D-BAE6-A07B40C363FE}" vid="{76929DC5-F6A3-564F-9AEB-6CE75C1200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Novak Djokovic PowerPoint Template</Template>
  <TotalTime>563</TotalTime>
  <Words>197</Words>
  <Application>Microsoft Office PowerPoint</Application>
  <PresentationFormat>Widescreen</PresentationFormat>
  <Paragraphs>41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Trebuchet MS</vt:lpstr>
      <vt:lpstr>Office Theme</vt:lpstr>
      <vt:lpstr>Novak Djoković Grand Slam Analysis</vt:lpstr>
      <vt:lpstr>Motivacija</vt:lpstr>
      <vt:lpstr>Podaci</vt:lpstr>
      <vt:lpstr>Sadržaj</vt:lpstr>
      <vt:lpstr>Deskriptivna statistika</vt:lpstr>
      <vt:lpstr>Omjer dobijenih i izgubljenih mečeva</vt:lpstr>
      <vt:lpstr>Australian Open</vt:lpstr>
      <vt:lpstr>Roland Garros</vt:lpstr>
      <vt:lpstr>Wimbledon</vt:lpstr>
      <vt:lpstr>US Open</vt:lpstr>
      <vt:lpstr>Efikasnost na podlogama</vt:lpstr>
      <vt:lpstr>Prosječna dužina mečeva (min)</vt:lpstr>
      <vt:lpstr>Broj asova</vt:lpstr>
      <vt:lpstr>Broj duplih servis grešaka</vt:lpstr>
      <vt:lpstr>Protivnici koje je najviše puta pobjedjivao</vt:lpstr>
      <vt:lpstr>Analize i poredjenja</vt:lpstr>
      <vt:lpstr>Odnos procenata asova i duplih servis grešaka - AO</vt:lpstr>
      <vt:lpstr>Odnos procenata asova i duplih servis grešaka - RG</vt:lpstr>
      <vt:lpstr>Odnos procenata asova i duplih servis grešaka - Wimbledon</vt:lpstr>
      <vt:lpstr>Odnos procenata asova i duplih servis grešaka – US Open</vt:lpstr>
      <vt:lpstr>Odnos procenata ubačenog prvog servisa i osvajanja poena na osnovu prvog servisa</vt:lpstr>
      <vt:lpstr>Odnos procenata osvojenih poena na drugom servisu i osvojenih servis gemova</vt:lpstr>
      <vt:lpstr>Odnos součenih i spašenih brejk lopti</vt:lpstr>
      <vt:lpstr>Poredjenje sa Federerom i Nadalom</vt:lpstr>
      <vt:lpstr>Broj asova – Djoković vs Federer</vt:lpstr>
      <vt:lpstr>Broj duplih servis grešaka – Djoković vs Federer</vt:lpstr>
      <vt:lpstr>Spašene brejk lopte – Djoković vs Federer</vt:lpstr>
      <vt:lpstr>Broj asova – Djoković vs Nadal</vt:lpstr>
      <vt:lpstr>Broj duplih servis grešaka – Djoković vs Nadal</vt:lpstr>
      <vt:lpstr>Spašene brejk lopte – Djoković vs Nadal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Novak Djoković Grand Slam Analysis</dc:title>
  <dc:creator>stjep</dc:creator>
  <cp:lastModifiedBy>stjep</cp:lastModifiedBy>
  <cp:revision>22</cp:revision>
  <dcterms:created xsi:type="dcterms:W3CDTF">2023-07-05T11:20:36Z</dcterms:created>
  <dcterms:modified xsi:type="dcterms:W3CDTF">2023-07-05T20:44:15Z</dcterms:modified>
</cp:coreProperties>
</file>